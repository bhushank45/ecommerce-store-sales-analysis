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(₹M)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4B5F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DD6F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Uttar Pradesh</c:v>
                  </c:pt>
                  <c:pt idx="1">
                    <c:v>Maharashtra</c:v>
                  </c:pt>
                  <c:pt idx="2">
                    <c:v>Delhi</c:v>
                  </c:pt>
                  <c:pt idx="3">
                    <c:v>Rajasthan</c:v>
                  </c:pt>
                  <c:pt idx="4">
                    <c:v>Gujarat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3.9</c:v>
                </c:pt>
                <c:pt idx="1">
                  <c:v>3.1</c:v>
                </c:pt>
                <c:pt idx="2">
                  <c:v>2.9</c:v>
                </c:pt>
                <c:pt idx="3">
                  <c:v>2.5</c:v>
                </c:pt>
                <c:pt idx="4">
                  <c:v>2.4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1D5D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7415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103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Amount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B6D4"/>
              </a:solidFill>
              <a:effectLst/>
            </c:spPr>
          </c:dPt>
          <c:dPt>
            <c:idx val="1"/>
            <c:bubble3D val="0"/>
            <c:spPr>
              <a:solidFill>
                <a:srgbClr val="EC4899"/>
              </a:solidFill>
              <a:effectLst/>
            </c:spPr>
          </c:dPt>
          <c:dPt>
            <c:idx val="2"/>
            <c:bubble3D val="0"/>
            <c:spPr>
              <a:solidFill>
                <a:srgbClr val="7C3AE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Electronics</c:v>
                </c:pt>
                <c:pt idx="1">
                  <c:v>Furniture</c:v>
                </c:pt>
                <c:pt idx="2">
                  <c:v>Clothing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16150518</c:v>
                </c:pt>
                <c:pt idx="1">
                  <c:v>12515686</c:v>
                </c:pt>
                <c:pt idx="2">
                  <c:v>5929541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D1D5D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A103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(₹M)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BBF2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CD34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DE68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Electronic Games</c:v>
                  </c:pt>
                  <c:pt idx="1">
                    <c:v>Printers</c:v>
                  </c:pt>
                  <c:pt idx="2">
                    <c:v>Phones</c:v>
                  </c:pt>
                  <c:pt idx="3">
                    <c:v>Accessories</c:v>
                  </c:pt>
                  <c:pt idx="4">
                    <c:v>Bookcases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1.45</c:v>
                </c:pt>
                <c:pt idx="1">
                  <c:v>1.44</c:v>
                </c:pt>
                <c:pt idx="2">
                  <c:v>1.4</c:v>
                </c:pt>
                <c:pt idx="3">
                  <c:v>1.37</c:v>
                </c:pt>
                <c:pt idx="4">
                  <c:v>0.86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1D5D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7415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1035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B6D4"/>
              </a:solidFill>
              <a:effectLst/>
            </c:spPr>
          </c:dPt>
          <c:dPt>
            <c:idx val="1"/>
            <c:bubble3D val="0"/>
            <c:spPr>
              <a:solidFill>
                <a:srgbClr val="7C3AED"/>
              </a:solidFill>
              <a:effectLst/>
            </c:spPr>
          </c:dPt>
          <c:dPt>
            <c:idx val="2"/>
            <c:bubble3D val="0"/>
            <c:spPr>
              <a:solidFill>
                <a:srgbClr val="EC4899"/>
              </a:solidFill>
              <a:effectLst/>
            </c:spPr>
          </c:dPt>
          <c:dPt>
            <c:idx val="3"/>
            <c:bubble3D val="0"/>
            <c:spPr>
              <a:solidFill>
                <a:srgbClr val="10B981"/>
              </a:solidFill>
              <a:effectLst/>
            </c:spPr>
          </c:dPt>
          <c:dPt>
            <c:idx val="4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COD</c:v>
                </c:pt>
                <c:pt idx="1">
                  <c:v>UPI</c:v>
                </c:pt>
                <c:pt idx="2">
                  <c:v>Credit Card</c:v>
                </c:pt>
                <c:pt idx="3">
                  <c:v>Debit Card</c:v>
                </c:pt>
                <c:pt idx="4">
                  <c:v>EMI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13640</c:v>
                </c:pt>
                <c:pt idx="1">
                  <c:v>11420</c:v>
                </c:pt>
                <c:pt idx="2">
                  <c:v>8702</c:v>
                </c:pt>
                <c:pt idx="3">
                  <c:v>6835</c:v>
                </c:pt>
                <c:pt idx="4">
                  <c:v>4375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D1D5D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A10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" name="Image 0" descr="/home/claude/ecommerce.jp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5029200" y="365760"/>
            <a:ext cx="393192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9144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Store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365760" y="16916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Analysis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365760" y="2606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| India E-Commerce Market Insights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3291840"/>
            <a:ext cx="1371600" cy="640080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331012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₹34.6M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36027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874520" y="3291840"/>
            <a:ext cx="1371600" cy="640080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74520" y="331012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₹9.5M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874520" y="36027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383280" y="3291840"/>
            <a:ext cx="1371600" cy="640080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83280" y="331012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45K Units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383280" y="36027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with Power BI  •  Dataset: Indian E-Commerce Orders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1B4E"/>
          </a:solidFill>
          <a:ln w="12700">
            <a:solidFill>
              <a:srgbClr val="2D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0" cy="1188720"/>
          </a:xfrm>
          <a:prstGeom prst="rect">
            <a:avLst/>
          </a:prstGeom>
          <a:solidFill>
            <a:srgbClr val="1A10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73152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418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252728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Power BI dashboard to track and analyze online sales across India for an e-commerce store.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2194560"/>
            <a:ext cx="4114800" cy="1188720"/>
          </a:xfrm>
          <a:prstGeom prst="rect">
            <a:avLst/>
          </a:prstGeom>
          <a:solidFill>
            <a:srgbClr val="1A10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194560"/>
            <a:ext cx="73152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677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 Sources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578608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datasets: Orders (customer, state, city, date) and Details (amount, profit, quantity, category, payment mode).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3520440"/>
            <a:ext cx="4114800" cy="1188720"/>
          </a:xfrm>
          <a:prstGeom prst="rect">
            <a:avLst/>
          </a:prstGeom>
          <a:solidFill>
            <a:srgbClr val="1A10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3520440"/>
            <a:ext cx="73152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5935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Tools Used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904488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Desktop — DAX measures, slicers, custom visuals, and a multi-page interactive report.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868680"/>
            <a:ext cx="4023360" cy="3977640"/>
          </a:xfrm>
          <a:prstGeom prst="rect">
            <a:avLst/>
          </a:prstGeom>
          <a:solidFill>
            <a:srgbClr val="1A1035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Questions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1463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1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states generate the most revenue?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1965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1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top-selling product categories?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468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1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profit vary month to month?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971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1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payment methods are most popular?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474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buNone/>
            </a:pPr>
            <a:r>
              <a:rPr lang="en-US" sz="11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top customers by spend?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977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pPr indent="0" marL="0">
              <a:buNone/>
            </a:pPr>
            <a:r>
              <a:rPr lang="en-US" sz="11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sub-categories drive the most profit?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1B4E"/>
          </a:solidFill>
          <a:ln w="12700">
            <a:solidFill>
              <a:srgbClr val="2D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69080" cy="1783080"/>
          </a:xfrm>
          <a:prstGeom prst="rect">
            <a:avLst/>
          </a:prstGeom>
          <a:solidFill>
            <a:srgbClr val="1A1035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06908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15568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₹34.6M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30428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all order amounts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914400"/>
            <a:ext cx="4069080" cy="1783080"/>
          </a:xfrm>
          <a:prstGeom prst="rect">
            <a:avLst/>
          </a:prstGeom>
          <a:solidFill>
            <a:srgbClr val="1A1035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914400"/>
            <a:ext cx="40690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115568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₹9.5M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800600" y="187452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230428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27.5% profit margin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069080" cy="1783080"/>
          </a:xfrm>
          <a:prstGeom prst="rect">
            <a:avLst/>
          </a:prstGeom>
          <a:solidFill>
            <a:srgbClr val="1A1035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926080"/>
            <a:ext cx="4069080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27248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45K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365760" y="388620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431596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quantities ordered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2926080"/>
            <a:ext cx="4069080" cy="1783080"/>
          </a:xfrm>
          <a:prstGeom prst="rect">
            <a:avLst/>
          </a:prstGeom>
          <a:solidFill>
            <a:srgbClr val="1A1035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926080"/>
            <a:ext cx="406908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127248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₹16M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4800600" y="388620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431596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(AOV)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Orders.csv + Details.csv  |  All values in Indian Rupees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1B4E"/>
          </a:solidFill>
          <a:ln w="12700">
            <a:solidFill>
              <a:srgbClr val="2D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Performance: Geography &amp; Category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States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28600" y="1143000"/>
          <a:ext cx="4206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8046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Share by Category</a:t>
            </a:r>
            <a:endParaRPr lang="en-US" sz="14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663440" y="1143000"/>
          <a:ext cx="4206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228600" y="4434840"/>
            <a:ext cx="8686800" cy="502920"/>
          </a:xfrm>
          <a:prstGeom prst="rect">
            <a:avLst/>
          </a:prstGeom>
          <a:solidFill>
            <a:srgbClr val="2D1B4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20040" y="445312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Insight: Electronics leads with 47% of total revenue. Uttar Pradesh is the top state, contributing ₹3.9M — 11.3% of all sales.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1B4E"/>
          </a:solidFill>
          <a:ln w="12700">
            <a:solidFill>
              <a:srgbClr val="2D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&amp; Payment Mode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Sub-Categories by Profit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28600" y="1143000"/>
          <a:ext cx="4206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8046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Payment Method</a:t>
            </a:r>
            <a:endParaRPr lang="en-US" sz="14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663440" y="1143000"/>
          <a:ext cx="4206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228600" y="4434840"/>
            <a:ext cx="8686800" cy="502920"/>
          </a:xfrm>
          <a:prstGeom prst="rect">
            <a:avLst/>
          </a:prstGeom>
          <a:solidFill>
            <a:srgbClr val="1A10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20040" y="445312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Insight: Electronic Games and Printers are the most profitable sub-categories. COD remains the dominant payment method at 30%, followed by UPI at 25%.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1B4E"/>
          </a:solidFill>
          <a:ln w="12700">
            <a:solidFill>
              <a:srgbClr val="2D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Walkthrough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8686800" cy="3657600"/>
          </a:xfrm>
          <a:prstGeom prst="rect">
            <a:avLst/>
          </a:prstGeom>
          <a:solidFill>
            <a:srgbClr val="1A1035"/>
          </a:solidFill>
          <a:ln w="25400">
            <a:solidFill>
              <a:srgbClr val="7C3AED"/>
            </a:solidFill>
            <a:prstDash val="solid"/>
          </a:ln>
        </p:spPr>
      </p:sp>
      <p:pic>
        <p:nvPicPr>
          <p:cNvPr id="5" name="Image 0" descr="/home/claude/dashboard_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04672"/>
            <a:ext cx="8595360" cy="3611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4507992"/>
            <a:ext cx="2011680" cy="411480"/>
          </a:xfrm>
          <a:prstGeom prst="rect">
            <a:avLst/>
          </a:prstGeom>
          <a:solidFill>
            <a:srgbClr val="1A1035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45079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Slicers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423160" y="4507992"/>
            <a:ext cx="2011680" cy="411480"/>
          </a:xfrm>
          <a:prstGeom prst="rect">
            <a:avLst/>
          </a:prstGeom>
          <a:solidFill>
            <a:srgbClr val="1A103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23160" y="45079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Profit Trend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17720" y="4507992"/>
            <a:ext cx="2011680" cy="411480"/>
          </a:xfrm>
          <a:prstGeom prst="rect">
            <a:avLst/>
          </a:prstGeom>
          <a:solidFill>
            <a:srgbClr val="1A1035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17720" y="45079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Customers by Sales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812280" y="4507992"/>
            <a:ext cx="2011680" cy="411480"/>
          </a:xfrm>
          <a:prstGeom prst="rect">
            <a:avLst/>
          </a:prstGeom>
          <a:solidFill>
            <a:srgbClr val="1A1035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12280" y="45079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Payment Method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1B4E"/>
          </a:solidFill>
          <a:ln w="12700">
            <a:solidFill>
              <a:srgbClr val="2D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60520" cy="1737360"/>
          </a:xfrm>
          <a:prstGeom prst="rect">
            <a:avLst/>
          </a:prstGeom>
          <a:solidFill>
            <a:srgbClr val="1A1035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73152" cy="1737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Geographic Focus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states — UP, Maharashtra, Delhi, Rajasthan, Gujarat — contribute 50%+ of total revenue. Target these with premium campaigns.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160520" cy="1737360"/>
          </a:xfrm>
          <a:prstGeom prst="rect">
            <a:avLst/>
          </a:prstGeom>
          <a:solidFill>
            <a:srgbClr val="1A103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822960"/>
            <a:ext cx="73152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9144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Electronics Dominates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28016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drives 47% of revenue. Electronic Games and Printers are highest-profit sub-categories with ₹1.45M+ each.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743200"/>
            <a:ext cx="4160520" cy="1737360"/>
          </a:xfrm>
          <a:prstGeom prst="rect">
            <a:avLst/>
          </a:prstGeom>
          <a:solidFill>
            <a:srgbClr val="1A1035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743200"/>
            <a:ext cx="73152" cy="17373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346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Payment Preference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20040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(30%) + UPI (25%) = 55% of orders. Offer COD incentives and UPI cashbacks to maximize conversions.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743200"/>
            <a:ext cx="4160520" cy="1737360"/>
          </a:xfrm>
          <a:prstGeom prst="rect">
            <a:avLst/>
          </a:prstGeom>
          <a:solidFill>
            <a:srgbClr val="1A1035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743200"/>
            <a:ext cx="73152" cy="17373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8346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Seasonal Opportunity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20040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stays consistently above ₹0.5M/month. A peak strategy around Q2 and festive quarters can boost 15-20%.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4" name="Image 0" descr="/home/claude/ecommerce.jp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5303520" y="457200"/>
            <a:ext cx="347472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972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Store Sales Analysis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606040"/>
            <a:ext cx="4206240" cy="1645920"/>
          </a:xfrm>
          <a:prstGeom prst="rect">
            <a:avLst/>
          </a:prstGeom>
          <a:solidFill>
            <a:srgbClr val="1A10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69748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 built in </a:t>
            </a:r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
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Dataset: </a:t>
            </a:r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Orders.csv + Details.csv
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Scope: </a:t>
            </a:r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Pan-India E-Commerce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Store Sales Analysis</dc:title>
  <dc:subject>PptxGenJS Presentation</dc:subject>
  <dc:creator>PptxGenJS</dc:creator>
  <cp:lastModifiedBy>PptxGenJS</cp:lastModifiedBy>
  <cp:revision>1</cp:revision>
  <dcterms:created xsi:type="dcterms:W3CDTF">2026-03-23T06:26:29Z</dcterms:created>
  <dcterms:modified xsi:type="dcterms:W3CDTF">2026-03-23T06:26:29Z</dcterms:modified>
</cp:coreProperties>
</file>